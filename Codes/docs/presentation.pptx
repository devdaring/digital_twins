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person, not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gaps. Keep it to the gaps that the product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Showcase line from the review: a sensor-light glucose twin with Indian meal inputs, multilingual interaction, and visible uncertainty. Always say the 5-day CGM calibration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Screenshots of the real app against the real API (demo mode, recorded fixtures). Hosted at https://pratifalan.duckdns.org; logins DevTester / DevTester11 and TestUser / TestUser11.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layers. Honest point: at 2 pricks a day the hybrid is level with a LightGBM model on sparse features (paired CI includes zero). It clearly beats the mechanistic layer alone, the personal average and persistence; its added value is calibrated bands, paired futures and explanations.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measured trade-off. The by-hours-since-reading table is confounded by clock time (pricks at 07:00 and 22:00), so the controlled evidence is the paired band width at identical origins.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 the null as it is. The feature stays in the app as an experimental information-gathering suggestion, not an accuracy promise.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Coverage with width, calibration, subgroups, transfer with people versus recordings, and the protocol change. Headline numbers barely moved after removing the indirect leakage path; that is good news.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 targets met on the current suite, including the 24 new held-out v3 prompts; their pre-fix misses are disclosed. Voice latency target is not met; streaming TTS is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columns: what the design guarantees, and what the evidence does not show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is ordered by what would change the evidence, not by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the ask and the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9CA0C8"/>
                </a:solidFill>
                <a:latin typeface="Noto Sans"/>
              </a:rPr>
              <a:t>Pratifalan · 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9CA0C8"/>
                </a:solidFill>
                <a:latin typeface="Noto San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2296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2A33A"/>
                </a:solidFill>
                <a:latin typeface="Noto Sans"/>
              </a:rPr>
              <a:t>PRATIFALAN  ·  </a:t>
            </a:r>
            <a:r>
              <a:rPr sz="1400" b="1" i="0">
                <a:solidFill>
                  <a:srgbClr val="F2A33A"/>
                </a:solidFill>
                <a:latin typeface="Noto Sans Bengali"/>
                <a:cs typeface="Noto Sans Bengali"/>
              </a:rPr>
              <a:t>প্রতিফলন</a:t>
            </a:r>
            <a:r>
              <a:rPr sz="1400" b="1" i="0">
                <a:solidFill>
                  <a:srgbClr val="F2A33A"/>
                </a:solidFill>
                <a:latin typeface="Noto Sans"/>
              </a:rPr>
              <a:t>  ·  </a:t>
            </a:r>
            <a:r>
              <a:rPr sz="1400" b="1" i="0">
                <a:solidFill>
                  <a:srgbClr val="F2A33A"/>
                </a:solidFill>
                <a:latin typeface="Noto Sans Devanagari"/>
                <a:cs typeface="Noto Sans Devanagari"/>
              </a:rPr>
              <a:t>प्रतिफलन</a:t>
            </a:r>
            <a:r>
              <a:rPr sz="1400" b="1" i="0">
                <a:solidFill>
                  <a:srgbClr val="F2A33A"/>
                </a:solidFill>
                <a:latin typeface="Noto Sans"/>
              </a:rPr>
              <a:t>  ·  </a:t>
            </a:r>
            <a:r>
              <a:rPr sz="1400" b="1" i="0">
                <a:solidFill>
                  <a:srgbClr val="F2A33A"/>
                </a:solidFill>
                <a:latin typeface="Noto Sans Kannada"/>
                <a:cs typeface="Noto Sans Kannada"/>
              </a:rPr>
              <a:t>ಪ್ರತಿಫಲನ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789920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4000" b="1" i="0">
                <a:solidFill>
                  <a:srgbClr val="FAF6EF"/>
                </a:solidFill>
                <a:latin typeface="Noto Sans"/>
              </a:rPr>
              <a:t>Reflect your health issues before they really occur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0607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F2A33A"/>
                </a:solidFill>
                <a:latin typeface="Noto San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0881360" cy="2194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E6E7F5"/>
                </a:solidFill>
                <a:latin typeface="Noto Sans"/>
              </a:rPr>
              <a:t>Most adults with Type 2 diabetes in India live between clinic visits with a glucometer and a few finger-pricks, not a continuous glucose monitor.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E6E7F5"/>
                </a:solidFill>
                <a:latin typeface="Noto Sans"/>
              </a:rPr>
              <a:t>The spike after a rice-heavy dinner happens when nobody is measuring, and the tools that could warn about it assume a daily sensor, Western food and English.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40680"/>
            <a:ext cx="108813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FAF6EF"/>
                </a:solidFill>
                <a:latin typeface="Noto Sans"/>
              </a:rPr>
              <a:t>Team Pratifalan · Koushik Deb (solo) · Indian Institute of Information Technology Kalyani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108813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9CA0C8"/>
                </a:solidFill>
                <a:latin typeface="Noto Sans"/>
              </a:rPr>
              <a:t>Hosted demo: https://pratifalan.duckdns.org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02 · WHY CGM TWINS MISS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22" b="1" i="0">
                <a:solidFill>
                  <a:srgbClr val="1B1F3B"/>
                </a:solidFill>
                <a:latin typeface="Noto Sans"/>
              </a:rPr>
              <a:t>Glucose twins are built for people who wear a sensor every 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20440" cy="41148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B1F3B"/>
                </a:solidFill>
                <a:latin typeface="Noto Sans"/>
              </a:rPr>
              <a:t>Sensor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98928"/>
            <a:ext cx="3063240" cy="3200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700" b="0" i="0">
                <a:solidFill>
                  <a:srgbClr val="2BB3A3"/>
                </a:solidFill>
                <a:latin typeface="Noto Sans"/>
              </a:rPr>
              <a:t>•  </a:t>
            </a:r>
            <a:r>
              <a:rPr sz="1700" b="0" i="0">
                <a:solidFill>
                  <a:srgbClr val="1B1F3B"/>
                </a:solidFill>
                <a:latin typeface="Noto Sans"/>
              </a:rPr>
              <a:t>Most twins re-read a CGM every few minutes.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700" b="0" i="0">
                <a:solidFill>
                  <a:srgbClr val="2BB3A3"/>
                </a:solidFill>
                <a:latin typeface="Noto Sans"/>
              </a:rPr>
              <a:t>•  </a:t>
            </a:r>
            <a:r>
              <a:rPr sz="1700" b="0" i="0">
                <a:solidFill>
                  <a:srgbClr val="1B1F3B"/>
                </a:solidFill>
                <a:latin typeface="Noto Sans"/>
              </a:rPr>
              <a:t>A continuous sensor is a recurring cost most patients here do not carry.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700" b="0" i="0">
                <a:solidFill>
                  <a:srgbClr val="2BB3A3"/>
                </a:solidFill>
                <a:latin typeface="Noto Sans"/>
              </a:rPr>
              <a:t>•  </a:t>
            </a:r>
            <a:r>
              <a:rPr sz="1700" b="0" i="0">
                <a:solidFill>
                  <a:srgbClr val="1B1F3B"/>
                </a:solidFill>
                <a:latin typeface="Noto Sans"/>
              </a:rPr>
              <a:t>Finger-pricks are what people already have.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520440" cy="41148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20574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212848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B1F3B"/>
                </a:solidFill>
                <a:latin typeface="Noto Sans"/>
              </a:rPr>
              <a:t>Food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98928"/>
            <a:ext cx="3063240" cy="3200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700" b="0" i="0">
                <a:solidFill>
                  <a:srgbClr val="F2A33A"/>
                </a:solidFill>
                <a:latin typeface="Noto Sans"/>
              </a:rPr>
              <a:t>•  </a:t>
            </a:r>
            <a:r>
              <a:rPr sz="1700" b="0" i="0">
                <a:solidFill>
                  <a:srgbClr val="1B1F3B"/>
                </a:solidFill>
                <a:latin typeface="Noto Sans"/>
              </a:rPr>
              <a:t>Thali, katori, roti count: not grams on a label.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700" b="0" i="0">
                <a:solidFill>
                  <a:srgbClr val="F2A33A"/>
                </a:solidFill>
                <a:latin typeface="Noto Sans"/>
              </a:rPr>
              <a:t>•  </a:t>
            </a:r>
            <a:r>
              <a:rPr sz="1700" b="0" i="0">
                <a:solidFill>
                  <a:srgbClr val="1B1F3B"/>
                </a:solidFill>
                <a:latin typeface="Noto Sans"/>
              </a:rPr>
              <a:t>No open Indian CGM dataset exists to learn from.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700" b="0" i="0">
                <a:solidFill>
                  <a:srgbClr val="F2A33A"/>
                </a:solidFill>
                <a:latin typeface="Noto Sans"/>
              </a:rPr>
              <a:t>•  </a:t>
            </a:r>
            <a:r>
              <a:rPr sz="1700" b="0" i="0">
                <a:solidFill>
                  <a:srgbClr val="1B1F3B"/>
                </a:solidFill>
                <a:latin typeface="Noto Sans"/>
              </a:rPr>
              <a:t>A vision LLM's carb guesses barely tracked logs (Spearman 0.15, 78 photos).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520440" cy="41148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20574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7C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212848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B1F3B"/>
                </a:solidFill>
                <a:latin typeface="Noto Sans"/>
              </a:rPr>
              <a:t>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98928"/>
            <a:ext cx="3063240" cy="3200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700" b="0" i="0">
                <a:solidFill>
                  <a:srgbClr val="7C6CF0"/>
                </a:solidFill>
                <a:latin typeface="Noto Sans"/>
              </a:rPr>
              <a:t>•  </a:t>
            </a:r>
            <a:r>
              <a:rPr sz="1700" b="0" i="0">
                <a:solidFill>
                  <a:srgbClr val="1B1F3B"/>
                </a:solidFill>
                <a:latin typeface="Noto Sans"/>
              </a:rPr>
              <a:t>Advice apps speak English.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700" b="0" i="0">
                <a:solidFill>
                  <a:srgbClr val="7C6CF0"/>
                </a:solidFill>
                <a:latin typeface="Noto Sans"/>
              </a:rPr>
              <a:t>•  </a:t>
            </a:r>
            <a:r>
              <a:rPr sz="1700" b="0" i="0">
                <a:solidFill>
                  <a:srgbClr val="1B1F3B"/>
                </a:solidFill>
                <a:latin typeface="Noto Sans"/>
              </a:rPr>
              <a:t>People ask in Bengali, Hindi, Kannada.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700" b="0" i="0">
                <a:solidFill>
                  <a:srgbClr val="7C6CF0"/>
                </a:solidFill>
                <a:latin typeface="Noto Sans"/>
              </a:rPr>
              <a:t>•  </a:t>
            </a:r>
            <a:r>
              <a:rPr sz="1700" b="0" i="0">
                <a:solidFill>
                  <a:srgbClr val="1B1F3B"/>
                </a:solidFill>
                <a:latin typeface="Noto Sans"/>
              </a:rPr>
              <a:t>They need a short spoken answer with numbers they can trust.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08192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backend/reports/meal_photo.json (2026-10-05 17:23): US CGMacros meal photos; see slide 10 for the forecast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03 · 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B1F3B"/>
                </a:solidFill>
                <a:latin typeface="Noto Sans"/>
              </a:rPr>
              <a:t>A sensor-light glucose twin with Indian meal inputs, multilingual interaction and visible uncertainty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5E6280"/>
                </a:solidFill>
                <a:latin typeface="Noto Sans"/>
              </a:rPr>
              <a:t>Target outcome: </a:t>
            </a:r>
            <a:r>
              <a:rPr sz="1600" b="0" i="0">
                <a:solidFill>
                  <a:srgbClr val="5E6280"/>
                </a:solidFill>
                <a:latin typeface="Noto Sans"/>
              </a:rPr>
              <a:t>P(glucose &gt; 180 mg/dL within 2 h) after a meal, for adults with T2D, with a 90% band. P(&lt;70) is shown but labelled not validated.</a:t>
            </a:r>
          </a:p>
        </p:txBody>
      </p:sp>
      <p:pic>
        <p:nvPicPr>
          <p:cNvPr id="7" name="Picture 6" descr="idea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16044"/>
            <a:ext cx="11274552" cy="33060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108192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Tested setup: a 5-day CGM calibration wear, then finger-pricks. P(&lt;70) not validated: 83 low windows from 9 of 45 people (backend/reports/sensor_ladder.json, low_events).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04 ·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B1F3B"/>
                </a:solidFill>
                <a:latin typeface="Noto Sans"/>
              </a:rPr>
              <a:t>Tonight, with your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 i="0">
                <a:solidFill>
                  <a:srgbClr val="5E6280"/>
                </a:solidFill>
                <a:latin typeface="Noto Sans"/>
              </a:rPr>
              <a:t>https://pratifalan.duckdns.org · personas are synthetic composites the production model never saw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2830" y="1837943"/>
            <a:ext cx="5392339" cy="3959352"/>
          </a:xfrm>
          <a:prstGeom prst="roundRect">
            <a:avLst>
              <a:gd name="adj" fmla="val 2000"/>
            </a:avLst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age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06" y="1874519"/>
            <a:ext cx="5319187" cy="388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9406" y="5815583"/>
            <a:ext cx="5319187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E6280"/>
                </a:solidFill>
                <a:latin typeface="Noto Sans"/>
              </a:rPr>
              <a:t>Twin stage: replay clock, risk with held-out reliability, Watch the twin learn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75406" y="1837943"/>
            <a:ext cx="1450986" cy="3959352"/>
          </a:xfrm>
          <a:prstGeom prst="roundRect">
            <a:avLst>
              <a:gd name="adj" fmla="val 2000"/>
            </a:avLst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i_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982" y="1874519"/>
            <a:ext cx="1377834" cy="3886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83382" y="5815583"/>
            <a:ext cx="183503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E6280"/>
                </a:solidFill>
                <a:latin typeface="Noto Sans"/>
              </a:rPr>
              <a:t>Hindi, 390 px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1902879"/>
            <a:ext cx="3593591" cy="1406320"/>
          </a:xfrm>
          <a:prstGeom prst="roundRect">
            <a:avLst>
              <a:gd name="adj" fmla="val 2000"/>
            </a:avLst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octor_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939455"/>
            <a:ext cx="3520439" cy="1333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38160" y="3309200"/>
            <a:ext cx="352043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E6280"/>
                </a:solidFill>
                <a:latin typeface="Noto Sans"/>
              </a:rPr>
              <a:t>Clinician review queue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07289" y="3712463"/>
            <a:ext cx="3382181" cy="2084832"/>
          </a:xfrm>
          <a:prstGeom prst="roundRect">
            <a:avLst>
              <a:gd name="adj" fmla="val 2000"/>
            </a:avLst>
          </a:prstGeom>
          <a:solidFill>
            <a:srgbClr val="E4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kn_tal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3865" y="3749039"/>
            <a:ext cx="3309029" cy="2011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43865" y="5815583"/>
            <a:ext cx="330902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E6280"/>
                </a:solidFill>
                <a:latin typeface="Noto Sans"/>
              </a:rPr>
              <a:t>Talk in Kannada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05 · TWIN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195" b="1" i="0">
                <a:solidFill>
                  <a:srgbClr val="1B1F3B"/>
                </a:solidFill>
                <a:latin typeface="Noto Sans"/>
              </a:rPr>
              <a:t>Physiology first, learning second, honesty last</a:t>
            </a:r>
          </a:p>
        </p:txBody>
      </p:sp>
      <p:pic>
        <p:nvPicPr>
          <p:cNvPr id="6" name="Picture 5" descr="engine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8272"/>
            <a:ext cx="7406640" cy="45214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2440" y="1371600"/>
            <a:ext cx="36118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B1F3B"/>
                </a:solidFill>
                <a:latin typeface="Noto Sans"/>
              </a:rPr>
              <a:t>60-min RMSE, 2 pricks/day; paired difference vs the hybrid (95% CI)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057400"/>
            <a:ext cx="2286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C97A12"/>
                </a:solidFill>
                <a:latin typeface="Noto Sans"/>
              </a:rPr>
              <a:t>Hybrid twin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2057400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C97A12"/>
                </a:solidFill>
                <a:latin typeface="Noto Sans"/>
              </a:rPr>
              <a:t>30.6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660904"/>
            <a:ext cx="2286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B1F3B"/>
                </a:solidFill>
                <a:latin typeface="Noto Sans"/>
              </a:rPr>
              <a:t>LightGBM, sparse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2660904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B1F3B"/>
                </a:solidFill>
                <a:latin typeface="Noto Sans"/>
              </a:rPr>
              <a:t>31.0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935224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E6280"/>
                </a:solidFill>
                <a:latin typeface="Noto Sans"/>
              </a:rPr>
              <a:t>−0.40 (−1.65 to 0.67)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264408"/>
            <a:ext cx="2286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B1F3B"/>
                </a:solidFill>
                <a:latin typeface="Noto Sans"/>
              </a:rPr>
              <a:t>Mechanistic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3264408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B1F3B"/>
                </a:solidFill>
                <a:latin typeface="Noto Sans"/>
              </a:rPr>
              <a:t>33.7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538728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E6280"/>
                </a:solidFill>
                <a:latin typeface="Noto Sans"/>
              </a:rPr>
              <a:t>−3.11 (−4.19 to −1.87)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867912"/>
            <a:ext cx="2286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B1F3B"/>
                </a:solidFill>
                <a:latin typeface="Noto Sans"/>
              </a:rPr>
              <a:t>Personal average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3867912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B1F3B"/>
                </a:solidFill>
                <a:latin typeface="Noto Sans"/>
              </a:rPr>
              <a:t>33.3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42232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E6280"/>
                </a:solidFill>
                <a:latin typeface="Noto Sans"/>
              </a:rPr>
              <a:t>−2.69 (−4.35 to −1.10)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471416"/>
            <a:ext cx="2286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B1F3B"/>
                </a:solidFill>
                <a:latin typeface="Noto Sans"/>
              </a:rPr>
              <a:t>Persistence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4471416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B1F3B"/>
                </a:solidFill>
                <a:latin typeface="Noto Sans"/>
              </a:rPr>
              <a:t>38.9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745736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E6280"/>
                </a:solidFill>
                <a:latin typeface="Noto Sans"/>
              </a:rPr>
              <a:t>−8.31 (−10.83 to −5.02)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5120640"/>
            <a:ext cx="361188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5E6280"/>
                </a:solidFill>
                <a:latin typeface="Noto Sans"/>
              </a:rPr>
              <a:t>Level with LightGBM at 2 pricks/day (CI includes 0). Raw particle P(&gt;180) ECE 0.125 → 0.036 after stacking + isotonic.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08192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mg/dL; backend/reports/baselines.json (paired_vs_full_hybrid_60min, 2026-10-05 17:07), calibration_curve.json. Same forecast windows for every method; nested person-wise CV.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06 · SENSOR-LADDER RESULT (EXPERIMENT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B1F3B"/>
                </a:solidFill>
                <a:latin typeface="Noto Sans"/>
              </a:rPr>
              <a:t>2 pricks a day after 5 CGM days: 60-min error 30.6 mg/dL, band covers 89.9%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 i="0">
                <a:solidFill>
                  <a:srgbClr val="5E6280"/>
                </a:solidFill>
                <a:latin typeface="Noto Sans"/>
              </a:rPr>
              <a:t>Full CGM 27.3 · no glucose data 31.1 · band width 114.4 mg/dL · AUROC P(&gt;180) 0.81 (0.73–0.88)</a:t>
            </a:r>
          </a:p>
        </p:txBody>
      </p:sp>
      <p:pic>
        <p:nvPicPr>
          <p:cNvPr id="7" name="Picture 6" descr="result_sensor_lad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612" y="1920240"/>
            <a:ext cx="9337726" cy="3611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55955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1" i="0">
                <a:solidFill>
                  <a:srgbClr val="1B1F3B"/>
                </a:solidFill>
                <a:latin typeface="Noto Sans"/>
              </a:rPr>
              <a:t>Living uncertainty, controlled: </a:t>
            </a:r>
            <a:r>
              <a:rPr sz="1350" b="0" i="0">
                <a:solidFill>
                  <a:srgbClr val="1B1F3B"/>
                </a:solidFill>
                <a:latin typeface="Noto Sans"/>
              </a:rPr>
              <a:t>within 90 min of a prick the band is −10.6 mg/dL vs no data at 60 min (−17.5 to −4.7); 8 h or more later it is +12.0 (10.2 to 14.1). Recent prick: 60-min error −2.0 mg/dL (−3.8 to −0.5).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07 · NEXT-BEST-PRICK RESULT (EXPERIMENT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81" b="1" i="0">
                <a:solidFill>
                  <a:srgbClr val="1B1F3B"/>
                </a:solidFill>
                <a:latin typeface="Noto Sans"/>
              </a:rPr>
              <a:t>Choosing when to prick did not beat fixed clinic times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 i="0">
                <a:solidFill>
                  <a:srgbClr val="5E6280"/>
                </a:solidFill>
                <a:latin typeface="Noto Sans"/>
              </a:rPr>
              <a:t>An honest null result, kept in the app only as an experimental suggestion</a:t>
            </a:r>
          </a:p>
        </p:txBody>
      </p:sp>
      <p:pic>
        <p:nvPicPr>
          <p:cNvPr id="7" name="Picture 6" descr="result_nb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47711"/>
            <a:ext cx="7680960" cy="353981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58200" y="2103120"/>
            <a:ext cx="3200400" cy="105156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240279"/>
            <a:ext cx="82296" cy="777239"/>
          </a:xfrm>
          <a:prstGeom prst="roundRect">
            <a:avLst>
              <a:gd name="adj" fmla="val 50000"/>
            </a:avLst>
          </a:prstGeom>
          <a:solidFill>
            <a:srgbClr val="6A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14232" y="2194560"/>
            <a:ext cx="28346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B1F3B"/>
                </a:solidFill>
                <a:latin typeface="Noto Sans"/>
              </a:rPr>
              <a:t>30.7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4232" y="2708148"/>
            <a:ext cx="283464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50" b="0" i="0">
                <a:solidFill>
                  <a:srgbClr val="5E6280"/>
                </a:solidFill>
                <a:latin typeface="Noto Sans"/>
              </a:rPr>
              <a:t>60-min RMSE, twin-recommended times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3291840"/>
            <a:ext cx="3200400" cy="105156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58200" y="3429000"/>
            <a:ext cx="82296" cy="777239"/>
          </a:xfrm>
          <a:prstGeom prst="roundRect">
            <a:avLst>
              <a:gd name="adj" fmla="val 50000"/>
            </a:avLst>
          </a:prstGeom>
          <a:solidFill>
            <a:srgbClr val="8C8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14232" y="3383280"/>
            <a:ext cx="28346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B1F3B"/>
                </a:solidFill>
                <a:latin typeface="Noto Sans"/>
              </a:rPr>
              <a:t>30.6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4232" y="3896868"/>
            <a:ext cx="283464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50" b="0" i="0">
                <a:solidFill>
                  <a:srgbClr val="5E6280"/>
                </a:solidFill>
                <a:latin typeface="Noto Sans"/>
              </a:rPr>
              <a:t>60-min RMSE, fixed 07:00 &amp; 22:00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4480560"/>
            <a:ext cx="3200400" cy="105156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58200" y="4617720"/>
            <a:ext cx="82296" cy="777239"/>
          </a:xfrm>
          <a:prstGeom prst="roundRect">
            <a:avLst>
              <a:gd name="adj" fmla="val 50000"/>
            </a:avLst>
          </a:prstGeom>
          <a:solidFill>
            <a:srgbClr val="8C8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14232" y="4572000"/>
            <a:ext cx="28346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B1F3B"/>
                </a:solidFill>
                <a:latin typeface="Noto Sans"/>
              </a:rPr>
              <a:t>30.6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5085588"/>
            <a:ext cx="283464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50" b="0" i="0">
                <a:solidFill>
                  <a:srgbClr val="5E6280"/>
                </a:solidFill>
                <a:latin typeface="Noto Sans"/>
              </a:rPr>
              <a:t>60-min RMSE, random times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08192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backend/reports/nbp_value.json (2026-10-05 17:07); planner: ensemble square-root Kalman variance reduction over 12 h; 2 pricks/day in every arm.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08 · TRUST AND FAIRNESS (EXPERIMENTS 5, 6, 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62" b="1" i="0">
                <a:solidFill>
                  <a:srgbClr val="1B1F3B"/>
                </a:solidFill>
                <a:latin typeface="Noto Sans"/>
              </a:rPr>
              <a:t>Calibrated and covered; transfer to Shanghai costs 10.8 mg/dL</a:t>
            </a:r>
          </a:p>
        </p:txBody>
      </p:sp>
      <p:pic>
        <p:nvPicPr>
          <p:cNvPr id="6" name="Picture 5" descr="result_t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632" y="1371600"/>
            <a:ext cx="10067686" cy="3429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8920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5029200"/>
            <a:ext cx="82296" cy="868680"/>
          </a:xfrm>
          <a:prstGeom prst="roundRect">
            <a:avLst>
              <a:gd name="adj" fmla="val 50000"/>
            </a:avLst>
          </a:prstGeom>
          <a:solidFill>
            <a:srgbClr val="0E9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4983479"/>
            <a:ext cx="32004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1B1F3B"/>
                </a:solidFill>
                <a:latin typeface="Noto Sans"/>
              </a:rPr>
              <a:t>89.9% · 114.4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398008"/>
            <a:ext cx="3200400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50" b="0" i="0">
                <a:solidFill>
                  <a:srgbClr val="5E6280"/>
                </a:solidFill>
                <a:latin typeface="Noto Sans"/>
              </a:rPr>
              <a:t>coverage · width (mg/dL) of the 90% band at 60 min, 2 pricks/day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8920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5029200"/>
            <a:ext cx="82296" cy="868680"/>
          </a:xfrm>
          <a:prstGeom prst="roundRect">
            <a:avLst>
              <a:gd name="adj" fmla="val 50000"/>
            </a:avLst>
          </a:prstGeom>
          <a:solidFill>
            <a:srgbClr val="C9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4983479"/>
            <a:ext cx="32004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1B1F3B"/>
                </a:solidFill>
                <a:latin typeface="Noto Sans"/>
              </a:rPr>
              <a:t>30.72 → 30.56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5398008"/>
            <a:ext cx="3200400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50" b="0" i="0">
                <a:solidFill>
                  <a:srgbClr val="5E6280"/>
                </a:solidFill>
                <a:latin typeface="Noto Sans"/>
              </a:rPr>
              <a:t>60-min RMSE, old → new protocol; AUROC 0.811 → 0.814; gap 9.24 → 10.80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89204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5029200"/>
            <a:ext cx="82296" cy="868680"/>
          </a:xfrm>
          <a:prstGeom prst="roundRect">
            <a:avLst>
              <a:gd name="adj" fmla="val 50000"/>
            </a:avLst>
          </a:prstGeom>
          <a:solidFill>
            <a:srgbClr val="6A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4983479"/>
            <a:ext cx="32461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1B1F3B"/>
                </a:solidFill>
                <a:latin typeface="Noto Sans"/>
              </a:rPr>
              <a:t>166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5398008"/>
            <a:ext cx="3246120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50" b="0" i="0">
                <a:solidFill>
                  <a:srgbClr val="5E6280"/>
                </a:solidFill>
                <a:latin typeface="Noto Sans"/>
              </a:rPr>
              <a:t>leakage audit passed; insulin users RMSE 56.1 (51 people, 56 recordings)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09 · VOICE IN FOUR LANGUAGES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35" b="1" i="0">
                <a:solidFill>
                  <a:srgbClr val="1B1F3B"/>
                </a:solidFill>
                <a:latin typeface="Noto Sans"/>
              </a:rPr>
              <a:t>Grounded and safe on 134 prompts; first audio after 8.0 s</a:t>
            </a:r>
          </a:p>
        </p:txBody>
      </p:sp>
      <p:pic>
        <p:nvPicPr>
          <p:cNvPr id="6" name="Picture 5" descr="result_vo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073" y="1325880"/>
            <a:ext cx="9540804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D04A36"/>
                </a:solidFill>
                <a:latin typeface="Noto Sans"/>
              </a:rPr>
              <a:t>Disclosed: </a:t>
            </a:r>
            <a:r>
              <a:rPr sz="1300" b="0" i="0">
                <a:solidFill>
                  <a:srgbClr val="1B1F3B"/>
                </a:solidFill>
                <a:latin typeface="Noto Sans"/>
              </a:rPr>
              <a:t>held-out prompts before the fix: template emergency recall 94.1%, dose block 88.9% (4 misses, then fixed). 2.5 s first-audio target met on 0% of 12 trips; streaming speech is roadmap. Readings and meals said by voice need a confirm tap.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10 · SAFETY AND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1B1F3B"/>
                </a:solidFill>
                <a:latin typeface="Noto Sans"/>
              </a:rPr>
              <a:t>Decision support, not a medical device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40680" cy="45262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4983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B1F3B"/>
                </a:solidFill>
                <a:latin typeface="Noto Sans"/>
              </a:rPr>
              <a:t>Built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78887"/>
            <a:ext cx="4983480" cy="3611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2BB3A3"/>
                </a:solidFill>
                <a:latin typeface="Noto Sans"/>
              </a:rPr>
              <a:t>•  </a:t>
            </a:r>
            <a:r>
              <a:rPr sz="1400" b="0" i="0">
                <a:solidFill>
                  <a:srgbClr val="1B1F3B"/>
                </a:solidFill>
                <a:latin typeface="Noto Sans"/>
              </a:rPr>
              <a:t>One safety policy for manual entry, chat and replay reveal: a reading of 45 → very-low emergency guidance (108).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2BB3A3"/>
                </a:solidFill>
                <a:latin typeface="Noto Sans"/>
              </a:rPr>
              <a:t>•  </a:t>
            </a:r>
            <a:r>
              <a:rPr sz="1400" b="0" i="0">
                <a:solidFill>
                  <a:srgbClr val="1B1F3B"/>
                </a:solidFill>
                <a:latin typeface="Noto Sans"/>
              </a:rPr>
              <a:t>No dose or medicine advice; numbers only via slots from twin tools.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2BB3A3"/>
                </a:solidFill>
                <a:latin typeface="Noto Sans"/>
              </a:rPr>
              <a:t>•  </a:t>
            </a:r>
            <a:r>
              <a:rPr sz="1400" b="0" i="0">
                <a:solidFill>
                  <a:srgbClr val="1B1F3B"/>
                </a:solidFill>
                <a:latin typeface="Noto Sans"/>
              </a:rPr>
              <a:t>Confirm before voice/chat logs a reading or meal; per-user ownership checks; manifest-only sample ids.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2BB3A3"/>
                </a:solidFill>
                <a:latin typeface="Noto Sans"/>
              </a:rPr>
              <a:t>•  </a:t>
            </a:r>
            <a:r>
              <a:rPr sz="1400" b="0" i="0">
                <a:solidFill>
                  <a:srgbClr val="1B1F3B"/>
                </a:solidFill>
                <a:latin typeface="Noto Sans"/>
              </a:rPr>
              <a:t>P(&lt;70) not validated; beyond 120 min drawn as exploratory.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2BB3A3"/>
                </a:solidFill>
                <a:latin typeface="Noto Sans"/>
              </a:rPr>
              <a:t>•  </a:t>
            </a:r>
            <a:r>
              <a:rPr sz="1400" b="0" i="0">
                <a:solidFill>
                  <a:srgbClr val="1B1F3B"/>
                </a:solidFill>
                <a:latin typeface="Noto Sans"/>
              </a:rPr>
              <a:t>Abstains when unsure (0.8% of forecasts at 2 pricks/day).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508760"/>
            <a:ext cx="5440680" cy="45262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8232" y="173736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E56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892807"/>
            <a:ext cx="4983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B1F3B"/>
                </a:solidFill>
                <a:latin typeface="Noto Sans"/>
              </a:rPr>
              <a:t>Not proven yet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278887"/>
            <a:ext cx="4983480" cy="3611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E5604D"/>
                </a:solidFill>
                <a:latin typeface="Noto Sans"/>
              </a:rPr>
              <a:t>•  </a:t>
            </a:r>
            <a:r>
              <a:rPr sz="1400" b="0" i="0">
                <a:solidFill>
                  <a:srgbClr val="1B1F3B"/>
                </a:solidFill>
                <a:latin typeface="Noto Sans"/>
              </a:rPr>
              <a:t>No Indian CGM data; trained on US and Chinese adults.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E5604D"/>
                </a:solidFill>
                <a:latin typeface="Noto Sans"/>
              </a:rPr>
              <a:t>•  </a:t>
            </a:r>
            <a:r>
              <a:rPr sz="1400" b="0" i="0">
                <a:solidFill>
                  <a:srgbClr val="1B1F3B"/>
                </a:solidFill>
                <a:latin typeface="Noto Sans"/>
              </a:rPr>
              <a:t>Needs a 5-day CGM wear first; pricks simulated except the ShanghaiT2DM arm.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E5604D"/>
                </a:solidFill>
                <a:latin typeface="Noto Sans"/>
              </a:rPr>
              <a:t>•  </a:t>
            </a:r>
            <a:r>
              <a:rPr sz="1400" b="0" i="0">
                <a:solidFill>
                  <a:srgbClr val="1B1F3B"/>
                </a:solidFill>
                <a:latin typeface="Noto Sans"/>
              </a:rPr>
              <a:t>Photo carbs worsen 60-min error by +4.3 mg/dL; so dishes are editable chips + a 153-dish Indian table.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E5604D"/>
                </a:solidFill>
                <a:latin typeface="Noto Sans"/>
              </a:rPr>
              <a:t>•  </a:t>
            </a:r>
            <a:r>
              <a:rPr sz="1400" b="0" i="0">
                <a:solidFill>
                  <a:srgbClr val="1B1F3B"/>
                </a:solidFill>
                <a:latin typeface="Noto Sans"/>
              </a:rPr>
              <a:t>Insulin is not modelled (RMSE 56.1 in insulin users).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E5604D"/>
                </a:solidFill>
                <a:latin typeface="Noto Sans"/>
              </a:rPr>
              <a:t>•  </a:t>
            </a:r>
            <a:r>
              <a:rPr sz="1400" b="0" i="0">
                <a:solidFill>
                  <a:srgbClr val="1B1F3B"/>
                </a:solidFill>
                <a:latin typeface="Noto Sans"/>
              </a:rPr>
              <a:t>No clinical validation; no prospective study yet.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08192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backend/reports/sensor_ladder.json, meal_photo.json, transfer.json, summary.json (limitations); backend/pratifalan/agent/safety.py (shared policy).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11 · ROADMAP: INDIA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31" b="1" i="0">
                <a:solidFill>
                  <a:srgbClr val="1B1F3B"/>
                </a:solidFill>
                <a:latin typeface="Noto Sans"/>
              </a:rPr>
              <a:t>From open-data evidence to evidence from Indian clinics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02920" cy="73152"/>
          </a:xfrm>
          <a:prstGeom prst="roundRect">
            <a:avLst>
              <a:gd name="adj" fmla="val 50000"/>
            </a:avLst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29968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B1F3B"/>
                </a:solidFill>
                <a:latin typeface="Noto Sans"/>
              </a:rPr>
              <a:t>Next 3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6048"/>
            <a:ext cx="3063240" cy="3429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F2A33A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Streaming speech to reach the 2.5 s first-audio target.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F2A33A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Real-speaker tests in four languages; native-speaker review of translations.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F2A33A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Independent clinician review of the safety suite.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1874519"/>
            <a:ext cx="502920" cy="73152"/>
          </a:xfrm>
          <a:prstGeom prst="roundRect">
            <a:avLst>
              <a:gd name="adj" fmla="val 50000"/>
            </a:avLst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29968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B1F3B"/>
                </a:solidFill>
                <a:latin typeface="Noto Sans"/>
              </a:rPr>
              <a:t>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16048"/>
            <a:ext cx="3063240" cy="3429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2BB3A3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Prospective study with ethics approval, CTRI-registered.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2BB3A3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Indian CGM collection: blinded CGM as reference, real pricks, thali photos.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2BB3A3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Re-run every experiment on Indian data; model insulin explicitly.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1874519"/>
            <a:ext cx="502920" cy="73152"/>
          </a:xfrm>
          <a:prstGeom prst="roundRect">
            <a:avLst>
              <a:gd name="adj" fmla="val 50000"/>
            </a:avLst>
          </a:prstGeom>
          <a:solidFill>
            <a:srgbClr val="7C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029968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B1F3B"/>
                </a:solidFill>
                <a:latin typeface="Noto Sans"/>
              </a:rP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416048"/>
            <a:ext cx="3063240" cy="3429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7C6CF0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ABDM integration: ABHA linkage, consent manager, FHIR R4 exchange.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7C6CF0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CDSCO SaMD pathway if claims move beyond decision support.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0" i="0">
                <a:solidFill>
                  <a:srgbClr val="7C6CF0"/>
                </a:solidFill>
                <a:latin typeface="Noto Sans"/>
              </a:rPr>
              <a:t>•  </a:t>
            </a:r>
            <a:r>
              <a:rPr sz="1500" b="0" i="0">
                <a:solidFill>
                  <a:srgbClr val="1B1F3B"/>
                </a:solidFill>
                <a:latin typeface="Noto Sans"/>
              </a:rPr>
              <a:t>Clinic-lent sensors for the 5-day calibration wear.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9CA0C8"/>
                </a:solidFill>
                <a:latin typeface="Noto Sans"/>
              </a:rPr>
              <a:t>Pratifalan · 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9CA0C8"/>
                </a:solidFill>
                <a:latin typeface="Noto San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F2A33A"/>
                </a:solidFill>
                <a:latin typeface="Noto Sans"/>
              </a:rPr>
              <a:t>12 ·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AF6EF"/>
                </a:solidFill>
                <a:latin typeface="Noto Sans"/>
              </a:rPr>
              <a:t>Help us earn the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881360" cy="3291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200" b="1" i="0">
                <a:solidFill>
                  <a:srgbClr val="F2A33A"/>
                </a:solidFill>
                <a:latin typeface="Noto Sans"/>
              </a:rPr>
              <a:t>1  </a:t>
            </a:r>
            <a:r>
              <a:rPr sz="2200" b="0" i="0">
                <a:solidFill>
                  <a:srgbClr val="E6E7F5"/>
                </a:solidFill>
                <a:latin typeface="Noto Sans"/>
              </a:rPr>
              <a:t>A clinical partner for a consented, ethics-approved pilot in India.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200" b="1" i="0">
                <a:solidFill>
                  <a:srgbClr val="F2A33A"/>
                </a:solidFill>
                <a:latin typeface="Noto Sans"/>
              </a:rPr>
              <a:t>2  </a:t>
            </a:r>
            <a:r>
              <a:rPr sz="2200" b="0" i="0">
                <a:solidFill>
                  <a:srgbClr val="E6E7F5"/>
                </a:solidFill>
                <a:latin typeface="Noto Sans"/>
              </a:rPr>
              <a:t>Access to Indian CGM and meal data under DPDP-compliant consent.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200" b="1" i="0">
                <a:solidFill>
                  <a:srgbClr val="F2A33A"/>
                </a:solidFill>
                <a:latin typeface="Noto Sans"/>
              </a:rPr>
              <a:t>3  </a:t>
            </a:r>
            <a:r>
              <a:rPr sz="2200" b="0" i="0">
                <a:solidFill>
                  <a:srgbClr val="E6E7F5"/>
                </a:solidFill>
                <a:latin typeface="Noto Sans"/>
              </a:rPr>
              <a:t>Mentoring on CDSCO software-as-a-medical-device and ABDM integration.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200" b="1" i="0">
                <a:solidFill>
                  <a:srgbClr val="F2A33A"/>
                </a:solidFill>
                <a:latin typeface="Noto Sans"/>
              </a:rPr>
              <a:t>4  </a:t>
            </a:r>
            <a:r>
              <a:rPr sz="2200" b="0" i="0">
                <a:solidFill>
                  <a:srgbClr val="E6E7F5"/>
                </a:solidFill>
                <a:latin typeface="Noto Sans"/>
              </a:rPr>
              <a:t>Speech and LLM credits to test with real speakers in four languages.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1088136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9CA0C8"/>
                </a:solidFill>
                <a:latin typeface="Noto Sans"/>
              </a:rPr>
              <a:t>Try it: https://pratifalan.duckdns.org  (DevTester / DevTester11)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9CA0C8"/>
                </a:solidFill>
                <a:latin typeface="Noto Sans"/>
              </a:rPr>
              <a:t>Team Pratifalan · Koushik Deb (solo) · Indian Institute of Information Technology Kalyani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9CA0C8"/>
                </a:solidFill>
                <a:latin typeface="Noto Sans"/>
              </a:rPr>
              <a:t>Every number in this deck is generated from backend/reports/*.json by scripts/make_docs.py.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