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System overview. Every glucose number is produced by the twin engine; the LLM only perceives (photos, speech, lab reports) and explains. Hosted demo: Caddy reverse proxy with TLS in front of the docker compose stack (web, api, PostgreSQL).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flow of one forecast request, from the UI or from an agent tool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contract. The localiser is merged into the planner; the verifier re-runs on the localised text (docs/DEVIATIONS.md #18). Numbers enter replies only through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 protocol after the external review: nested outer folds, inner folds and CIs by person, membership manifest with automated leakage checks, cache keys from code and data hashes.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architecture · Indian Institute of Information Technology Kalyani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ARCHITECTURE · 1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81" b="1" i="0">
                <a:solidFill>
                  <a:srgbClr val="1B1F3B"/>
                </a:solidFill>
                <a:latin typeface="Noto Sans"/>
              </a:rPr>
              <a:t>One twin engine behind every screen and every sentence</a:t>
            </a:r>
          </a:p>
        </p:txBody>
      </p:sp>
      <p:pic>
        <p:nvPicPr>
          <p:cNvPr id="6" name="Picture 5" descr="arch_syst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943" y="1325880"/>
            <a:ext cx="8513064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08192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Hosted: https://pratifalan.duckdns.org (Caddy, TLS) · local: docker compose up with an empty .env -&gt; http://localhost:8080 (offline demo mode, recorded fixtures).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architecture · Indian Institute of Information Technology Kalyani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ARCHITECTURE · 2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1F3B"/>
                </a:solidFill>
                <a:latin typeface="Noto Sans"/>
              </a:rPr>
              <a:t>Data flow of a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 i="0">
                <a:solidFill>
                  <a:srgbClr val="5E6280"/>
                </a:solidFill>
                <a:latin typeface="Noto Sans"/>
              </a:rPr>
              <a:t>Deterministic and cached: the same timestamped inputs give the same numbers and the same receipt</a:t>
            </a:r>
          </a:p>
        </p:txBody>
      </p:sp>
      <p:pic>
        <p:nvPicPr>
          <p:cNvPr id="7" name="Picture 6" descr="arch_forecast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383" y="1920240"/>
            <a:ext cx="8168185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108192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Validated horizon: 120 min; 180-240 min drawn as exploratory (backend/reports/sensor_ladder.json, exploratory_horizons, 2026-10-05 17:06).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architecture · Indian Institute of Information Technology Kalyani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ARCHITECTURE · 3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1F3B"/>
                </a:solidFill>
                <a:latin typeface="Noto Sans"/>
              </a:rPr>
              <a:t>The agent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 i="0">
                <a:solidFill>
                  <a:srgbClr val="5E6280"/>
                </a:solidFill>
                <a:latin typeface="Noto Sans"/>
              </a:rPr>
              <a:t>rules → router → planner tools → slots → verifier → output safety → localiser → audit</a:t>
            </a:r>
          </a:p>
        </p:txBody>
      </p:sp>
      <p:pic>
        <p:nvPicPr>
          <p:cNvPr id="7" name="Picture 6" descr="arch_agent_con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304" y="1828800"/>
            <a:ext cx="8568343" cy="4251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108192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Agent suite, 134 prompts in 4 languages: grounded-or-template 100% / 100% (offline / live); unsafe advice 0% / 0% (backend/reports/agent_suite.json, 2026-10-05 17:32).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architecture · Indian Institute of Information Technology Kalyani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ARCHITECTURE · 4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45" b="1" i="0">
                <a:solidFill>
                  <a:srgbClr val="1B1F3B"/>
                </a:solidFill>
                <a:latin typeface="Noto Sans"/>
              </a:rPr>
              <a:t>Evaluation protocol: nested folds and a membership manifest</a:t>
            </a:r>
          </a:p>
        </p:txBody>
      </p:sp>
      <p:pic>
        <p:nvPicPr>
          <p:cNvPr id="6" name="Picture 5" descr="arch_eval_protoc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458" y="1325880"/>
            <a:ext cx="9348034" cy="470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08192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backend/artifacts/manifest.json (leakage_audit, membership); backend/reports/summary.json (protocol_change, 2026-10-05 17:14).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