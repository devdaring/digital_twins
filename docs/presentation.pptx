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person,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gaps. Keep it to the gaps that the product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line from the review: a sensor-light glucose twin with Indian meal inputs, multilingual interaction, and visible uncertainty. Always say the 5-day CGM calibration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real app against the real API (demo mode, recorded fixtures). Hosted at https://pratifalan.duckdns.org; logins DevTester / DevTester11 and TestUser / TestUser11.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layers. Honest point: at 2 pricks a day the hybrid is level with a LightGBM model on sparse features (paired CI includes zero). It clearly beats the mechanistic layer alone, the personal average and persistence; its added value is calibrated bands, paired futures and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measured trade-off. The by-hours-since-reading table is confounded by clock time (pricks at 07:00 and 22:00), so the controlled evidence is the paired band width at identical origins.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the null as it is. The feature stays in the app as an experimental information-gathering suggestion, not an accuracy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with width, calibration, subgroups, transfer with people versus recordings, and the protocol change. Headline numbers barely moved after removing the indirect leakage path; that is good news.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targets met on the current suite, including the 24 new held-out v3 prompts; their pre-fix misses are disclosed. Voice latency target is not met; streaming TTS is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columns: what the design guarantees, and what the evidence does not show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is ordered by what would change the evidence, not by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ask and the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2A33A"/>
                </a:solidFill>
                <a:latin typeface="Noto Sans Bengali"/>
              </a:rPr>
              <a:t>PRATIFALAN  ·  প্রতিফলন  ·  प्रतिफलन  ·  ಪ್ರತಿಫಲನ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78992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000" b="1" i="0">
                <a:solidFill>
                  <a:srgbClr val="FAF6EF"/>
                </a:solidFill>
                <a:latin typeface="Noto Sans"/>
              </a:rPr>
              <a:t>Reflect your health issues before they really occur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F2A33A"/>
                </a:solidFill>
                <a:latin typeface="Noto Sa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881360" cy="2194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E6E7F5"/>
                </a:solidFill>
                <a:latin typeface="Noto Sans"/>
              </a:rPr>
              <a:t>Most adults with Type 2 diabetes in India live between clinic visits with a glucometer and a few finger-pricks, not a continuous glucose monitor.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E6E7F5"/>
                </a:solidFill>
                <a:latin typeface="Noto Sans"/>
              </a:rPr>
              <a:t>The spike after a rice-heavy dinner happens when nobody is measuring, and the tools that could warn about it assume a daily sensor, Western food and 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AF6EF"/>
                </a:solidFill>
                <a:latin typeface="Noto Sans"/>
              </a:rPr>
              <a:t>Team Pratifalan · Koushik Deb (solo) · Indian Institute of Information Technology Kalyani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CA0C8"/>
                </a:solidFill>
                <a:latin typeface="Noto Sans"/>
              </a:rPr>
              <a:t>Hosted demo: https://pratifalan.duckdns.org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02 · WHY CGM TWINS MISS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22" b="1" i="0">
                <a:solidFill>
                  <a:srgbClr val="1B1F3B"/>
                </a:solidFill>
                <a:latin typeface="Noto Sans"/>
              </a:rPr>
              <a:t>Glucose twins are built for people who wear a sensor every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98928"/>
            <a:ext cx="306324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Most twins re-read a CGM every few minutes.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A continuous sensor is a recurring cost most patients here do not carry.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Finger-pricks are what people already have.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98928"/>
            <a:ext cx="306324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Thali, katori, roti count: not grams on a label.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No open Indian CGM dataset exists to learn from.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A vision LLM's carb guesses barely tracked logs (Spearman 0.15, 78 photos).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21284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98928"/>
            <a:ext cx="306324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Advice apps speak English.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People ask in Bengali, Hindi, Kannada.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They need a short spoken answer with numbers they can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backend/reports/meal_photo.json (2026-10-05 17:23): US CGMacros meal photos; see slide 10 for the forecast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03 ·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1F3B"/>
                </a:solidFill>
                <a:latin typeface="Noto Sans"/>
              </a:rPr>
              <a:t>A sensor-light glucose twin with Indian meal inputs, multilingual interaction and visible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5E6280"/>
                </a:solidFill>
                <a:latin typeface="Noto Sans"/>
              </a:rPr>
              <a:t>Target outcome: </a:t>
            </a:r>
            <a:r>
              <a:rPr sz="1600" b="0" i="0">
                <a:solidFill>
                  <a:srgbClr val="5E6280"/>
                </a:solidFill>
                <a:latin typeface="Noto Sans"/>
              </a:rPr>
              <a:t>P(glucose &gt; 180 mg/dL within 2 h) after a meal, for adults with T2D, with a 90% band. P(&lt;70) is shown but labelled not validated.</a:t>
            </a:r>
          </a:p>
        </p:txBody>
      </p:sp>
      <p:pic>
        <p:nvPicPr>
          <p:cNvPr id="7" name="Picture 6" descr="idea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00815"/>
            <a:ext cx="11274552" cy="31365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Tested setup: a 5-day CGM calibration wear, then finger-pricks. P(&lt;70) not validated: 83 low windows from 9 of 45 people (backend/reports/sensor_ladder.json, low_events).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04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1F3B"/>
                </a:solidFill>
                <a:latin typeface="Noto Sans"/>
              </a:rPr>
              <a:t>Tonight, with your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https://pratifalan.duckdns.org · personas are synthetic composites the production model never saw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2830" y="1837943"/>
            <a:ext cx="5392339" cy="3959352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ge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06" y="1874519"/>
            <a:ext cx="5319187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9406" y="5815583"/>
            <a:ext cx="5319187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Twin stage: replay clock, risk with held-out reliability, Watch the twin learn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5406" y="1837943"/>
            <a:ext cx="1450986" cy="3959352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82" y="1874519"/>
            <a:ext cx="1377834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83382" y="5815583"/>
            <a:ext cx="183503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Hindi, 390 px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902879"/>
            <a:ext cx="3593591" cy="1406320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tor_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39455"/>
            <a:ext cx="3520439" cy="1333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3309200"/>
            <a:ext cx="35204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Clinician review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7289" y="3712463"/>
            <a:ext cx="3382181" cy="2084832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n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65" y="3749039"/>
            <a:ext cx="3309029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3865" y="5815583"/>
            <a:ext cx="330902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Talk in Kannada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05 · TWIN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95" b="1" i="0">
                <a:solidFill>
                  <a:srgbClr val="1B1F3B"/>
                </a:solidFill>
                <a:latin typeface="Noto Sans"/>
              </a:rPr>
              <a:t>Physiology first, learning second, honesty last</a:t>
            </a:r>
          </a:p>
        </p:txBody>
      </p:sp>
      <p:pic>
        <p:nvPicPr>
          <p:cNvPr id="6" name="Picture 5" descr="engine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8272"/>
            <a:ext cx="7406640" cy="4521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Noto Sans"/>
              </a:rPr>
              <a:t>60-min RMSE, 2 pricks/day; paired difference vs the hybrid (95% 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05740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C97A12"/>
                </a:solidFill>
                <a:latin typeface="Noto Sans"/>
              </a:rPr>
              <a:t>Hybrid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205740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C97A12"/>
                </a:solidFill>
                <a:latin typeface="Noto Sans"/>
              </a:rPr>
              <a:t>30.6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660904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LightGBM, sparse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660904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35224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−0.40 (−1.65 to 0.67)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264408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Mechanistic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264408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33.7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53872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−3.11 (−4.19 to −1.87)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867912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Personal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3867912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33.3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4223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−2.69 (−4.35 to −1.10)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71416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471416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38.9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745736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−8.31 (−10.83 to −5.02)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120640"/>
            <a:ext cx="36118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Level with LightGBM at 2 pricks/day (CI includes 0). Raw particle P(&gt;180) ECE 0.125 → 0.036 after stacking + isotonic.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mg/dL; backend/reports/baselines.json (paired_vs_full_hybrid_60min, 2026-10-05 17:07), calibration_curve.json. Same forecast windows for every method; nested person-wise CV.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06 · SENSOR-LADDER RESULT (EXPERIMENT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1F3B"/>
                </a:solidFill>
                <a:latin typeface="Noto Sans"/>
              </a:rPr>
              <a:t>2 pricks a day after 5 CGM days: 60-min error 30.6 mg/dL, band covers 89.9%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Full CGM 27.3 · no glucose data 31.1 · band width 114.4 mg/dL · AUROC P(&gt;180) 0.81 (0.73–0.88)</a:t>
            </a:r>
          </a:p>
        </p:txBody>
      </p:sp>
      <p:pic>
        <p:nvPicPr>
          <p:cNvPr id="7" name="Picture 6" descr="result_sensor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96" y="1920240"/>
            <a:ext cx="10350358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5955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1B1F3B"/>
                </a:solidFill>
                <a:latin typeface="Noto Sans"/>
              </a:rPr>
              <a:t>Living uncertainty, controlled: </a:t>
            </a:r>
            <a:r>
              <a:rPr sz="1350" b="0" i="0">
                <a:solidFill>
                  <a:srgbClr val="1B1F3B"/>
                </a:solidFill>
                <a:latin typeface="Noto Sans"/>
              </a:rPr>
              <a:t>within 90 min of a prick the band is −10.6 mg/dL vs no data at 60 min (−17.5 to −4.7); 8 h or more later it is +12.0 (10.2 to 14.1). Recent prick: 60-min error −2.0 mg/dL (−3.8 to −0.5).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07 · NEXT-BEST-PRICK RESULT (EXPERIMENT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81" b="1" i="0">
                <a:solidFill>
                  <a:srgbClr val="1B1F3B"/>
                </a:solidFill>
                <a:latin typeface="Noto Sans"/>
              </a:rPr>
              <a:t>Choosing when to prick did not beat fixed clinic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An honest null result, kept in the app only as an experimental suggestion</a:t>
            </a:r>
          </a:p>
        </p:txBody>
      </p:sp>
      <p:pic>
        <p:nvPicPr>
          <p:cNvPr id="7" name="Picture 6" descr="result_nb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7711"/>
            <a:ext cx="7680960" cy="35398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210312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240279"/>
            <a:ext cx="82296" cy="777239"/>
          </a:xfrm>
          <a:prstGeom prst="roundRect">
            <a:avLst>
              <a:gd name="adj" fmla="val 50000"/>
            </a:avLst>
          </a:prstGeom>
          <a:solidFill>
            <a:srgbClr val="6A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219456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30.7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708148"/>
            <a:ext cx="283464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0" i="0">
                <a:solidFill>
                  <a:srgbClr val="5E6280"/>
                </a:solidFill>
                <a:latin typeface="Noto Sans"/>
              </a:rPr>
              <a:t>60-min RMSE, twin-recommended 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29184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3429000"/>
            <a:ext cx="82296" cy="777239"/>
          </a:xfrm>
          <a:prstGeom prst="roundRect">
            <a:avLst>
              <a:gd name="adj" fmla="val 50000"/>
            </a:avLst>
          </a:prstGeom>
          <a:solidFill>
            <a:srgbClr val="8C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338328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30.6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896868"/>
            <a:ext cx="283464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0" i="0">
                <a:solidFill>
                  <a:srgbClr val="5E6280"/>
                </a:solidFill>
                <a:latin typeface="Noto Sans"/>
              </a:rPr>
              <a:t>60-min RMSE, fixed 07:00 &amp; 22:00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48056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4617720"/>
            <a:ext cx="82296" cy="777239"/>
          </a:xfrm>
          <a:prstGeom prst="roundRect">
            <a:avLst>
              <a:gd name="adj" fmla="val 50000"/>
            </a:avLst>
          </a:prstGeom>
          <a:solidFill>
            <a:srgbClr val="8C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457200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30.6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5085588"/>
            <a:ext cx="283464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0" i="0">
                <a:solidFill>
                  <a:srgbClr val="5E6280"/>
                </a:solidFill>
                <a:latin typeface="Noto Sans"/>
              </a:rPr>
              <a:t>60-min RMSE, random times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backend/reports/nbp_value.json (2026-10-05 17:07); planner: ensemble square-root Kalman variance reduction over 12 h; 2 pricks/day in every arm.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08 · TRUST AND FAIRNESS (EXPERIMENTS 5, 6,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62" b="1" i="0">
                <a:solidFill>
                  <a:srgbClr val="1B1F3B"/>
                </a:solidFill>
                <a:latin typeface="Noto Sans"/>
              </a:rPr>
              <a:t>Calibrated and covered; transfer to Shanghai costs 10.8 mg/dL</a:t>
            </a:r>
          </a:p>
        </p:txBody>
      </p:sp>
      <p:pic>
        <p:nvPicPr>
          <p:cNvPr id="6" name="Picture 5" descr="result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7" y="1371600"/>
            <a:ext cx="9996557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0E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983479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1F3B"/>
                </a:solidFill>
                <a:latin typeface="Noto Sans"/>
              </a:rPr>
              <a:t>89.9% · 114.4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98008"/>
            <a:ext cx="320040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E6280"/>
                </a:solidFill>
                <a:latin typeface="Noto Sans"/>
              </a:rPr>
              <a:t>coverage · width (mg/dL) of the 90% band at 60 min, 2 pricks/day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50292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983479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1F3B"/>
                </a:solidFill>
                <a:latin typeface="Noto Sans"/>
              </a:rPr>
              <a:t>30.72 → 30.56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398008"/>
            <a:ext cx="320040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E6280"/>
                </a:solidFill>
                <a:latin typeface="Noto Sans"/>
              </a:rPr>
              <a:t>60-min RMSE, old → new protocol; AUROC 0.811 → 0.814; gap 9.24 → 10.80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8920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6A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983479"/>
            <a:ext cx="3246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1F3B"/>
                </a:solidFill>
                <a:latin typeface="Noto Sans"/>
              </a:rPr>
              <a:t>166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398008"/>
            <a:ext cx="324612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E6280"/>
                </a:solidFill>
                <a:latin typeface="Noto Sans"/>
              </a:rPr>
              <a:t>leakage audit passed; insulin users RMSE 56.1 (51 people, 56 recordings)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09 · VOICE IN FOUR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35" b="1" i="0">
                <a:solidFill>
                  <a:srgbClr val="1B1F3B"/>
                </a:solidFill>
                <a:latin typeface="Noto Sans"/>
              </a:rPr>
              <a:t>Grounded and safe on 134 prompts; first audio after 8.0 s</a:t>
            </a:r>
          </a:p>
        </p:txBody>
      </p:sp>
      <p:pic>
        <p:nvPicPr>
          <p:cNvPr id="6" name="Picture 5" descr="result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73" y="1325880"/>
            <a:ext cx="9540804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D04A36"/>
                </a:solidFill>
                <a:latin typeface="Noto Sans"/>
              </a:rPr>
              <a:t>Disclosed: </a:t>
            </a:r>
            <a:r>
              <a:rPr sz="1300" b="0" i="0">
                <a:solidFill>
                  <a:srgbClr val="1B1F3B"/>
                </a:solidFill>
                <a:latin typeface="Noto Sans"/>
              </a:rPr>
              <a:t>held-out prompts before the fix: template emergency recall 94.1%, dose block 88.9% (4 misses, then fixed). 2.5 s first-audio target met on 0% of 12 trips; streaming speech is roadmap. Readings and meals said by voice need a confirm tap.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10 · SAFETY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Noto Sans"/>
              </a:rPr>
              <a:t>Decision support, not a medical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4983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Built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8887"/>
            <a:ext cx="4983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One safety policy for manual entry, chat and replay reveal: a reading of 45 → very-low emergency guidance (108).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No dose or medicine advice; numbers only via slots from twin tools.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Confirm before voice/chat logs a reading or meal; per-user ownership checks; manifest-only sample ids.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P(&lt;70) not validated; beyond 120 min drawn as exploratory.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Abstains when unsure (0.8% of forecasts at 2 pricks/day).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7373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E56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892807"/>
            <a:ext cx="4983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Not proven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78887"/>
            <a:ext cx="4983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No Indian CGM data; trained on US and Chinese adults.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Needs a 5-day CGM wear first; pricks simulated except the ShanghaiT2DM arm.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Photo carbs worsen 60-min error by +4.3 mg/dL; so dishes are editable chips + a 153-dish Indian table.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Insulin is not modelled (RMSE 56.1 in insulin users).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No clinical validation; no prospective study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backend/reports/sensor_ladder.json, meal_photo.json, transfer.json, summary.json (limitations); backend/pratifalan/agent/safety.py (shared policy).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11 · ROADMAP: INDIA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31" b="1" i="0">
                <a:solidFill>
                  <a:srgbClr val="1B1F3B"/>
                </a:solidFill>
                <a:latin typeface="Noto Sans"/>
              </a:rPr>
              <a:t>From open-data evidence to evidence from Indian clinics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Next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6048"/>
            <a:ext cx="306324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Streaming speech to reach the 2.5 s first-audio target.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Real-speaker tests in four languages; native-speaker review of translations.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Independent clinician review of the safety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16048"/>
            <a:ext cx="306324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Prospective study with ethics approval, CTRI-registered.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Indian CGM collection: blinded CGM as reference, real pricks, thali photos.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Re-run every experiment on Indian data; model insulin explicitly.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874519"/>
            <a:ext cx="502920" cy="73152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299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16048"/>
            <a:ext cx="306324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ABDM integration: ABHA linkage, consent manager, FHIR R4 exchange.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CDSCO SaMD pathway if claims move beyond decision support.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Clinic-lent sensors for the 5-day calibration wear.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2A33A"/>
                </a:solidFill>
                <a:latin typeface="Noto Sans"/>
              </a:rPr>
              <a:t>12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AF6EF"/>
                </a:solidFill>
                <a:latin typeface="Noto Sans"/>
              </a:rPr>
              <a:t>Help us earn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881360" cy="3291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1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A clinical partner for a consented, ethics-approved pilot in India.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2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Access to Indian CGM and meal data under DPDP-compliant consent.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3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Mentoring on CDSCO software-as-a-medical-device and ABDM integration.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4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Speech and LLM credits to test with real speakers in four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08813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9CA0C8"/>
                </a:solidFill>
                <a:latin typeface="Noto Sans"/>
              </a:rPr>
              <a:t>Try it: https://pratifalan.duckdns.org  (DevTester / DevTester11)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9CA0C8"/>
                </a:solidFill>
                <a:latin typeface="Noto Sans"/>
              </a:rPr>
              <a:t>Team Pratifalan · Koushik Deb (solo) · Indian Institute of Information Technology Kalyani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9CA0C8"/>
                </a:solidFill>
                <a:latin typeface="Noto Sans"/>
              </a:rPr>
              <a:t>Every number in this deck is generated from backend/reports/*.json by scripts/make_docs.py.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